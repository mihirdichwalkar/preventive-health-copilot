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Merriweather" panose="00000500000000000000" pitchFamily="2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44fa1a06f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a44fa1a06f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44fa1a06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a44fa1a06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44fa1a06f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a44fa1a06f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68154" y="2598003"/>
            <a:ext cx="965569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Preventive Health Copilot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633550" y="3758975"/>
            <a:ext cx="8925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Open-Source LLM Agent using Multi-Step Reasoning &amp; Tool Calling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F6AF1E-B1C1-994D-E09A-86B1E7CC0219}"/>
              </a:ext>
            </a:extLst>
          </p:cNvPr>
          <p:cNvSpPr txBox="1"/>
          <p:nvPr/>
        </p:nvSpPr>
        <p:spPr>
          <a:xfrm>
            <a:off x="10450276" y="6485122"/>
            <a:ext cx="18085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By: Mihir Dichwalkar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286000" y="2071886"/>
            <a:ext cx="80964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Successfully build and evaluate an intelligent agent capable of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multi-step reasoning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and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tool-calling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 complex preventive health tasks.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063808"/>
            <a:ext cx="8096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Hypothesis: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Iterative prompt engineering, culminating in a "Production-Ready" structured prompt, can significantly improve the reliability and output quality of an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open-source LLM (Llama 3.1)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650"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4462216"/>
            <a:ext cx="80964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Deliverable</a:t>
            </a:r>
            <a:r>
              <a:rPr lang="en-US" sz="1500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robust, machine-readable output structure suitable for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downstream application</a:t>
            </a:r>
            <a:r>
              <a:rPr lang="en-US" sz="16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integration (e.g., scheduling, logging, and UI display).</a:t>
            </a:r>
            <a:endParaRPr sz="165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245724"/>
            <a:ext cx="333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454333"/>
            <a:ext cx="333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649491"/>
            <a:ext cx="3333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7400"/>
            <a:ext cx="2547937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057400"/>
            <a:ext cx="2547937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057400"/>
            <a:ext cx="2547937" cy="37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057400"/>
            <a:ext cx="2547937" cy="374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065371" y="3067050"/>
            <a:ext cx="156019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User Query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66775" y="3714750"/>
            <a:ext cx="1957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User provides a natural language request, e.g., "Give me stress tips and set a reminder."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651527" y="3067050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LangGraph Agent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3700462" y="4048125"/>
            <a:ext cx="1957387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ReAct agent, guided by a "Production-Ready" prompt, interprets the query and plans steps.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42735" y="3067050"/>
            <a:ext cx="174021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3. Tool Calling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547090" y="3714750"/>
            <a:ext cx="1957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Agent invokes necessary tools like get_health_tips("stress") or schedule_reminder(...).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318902" y="3067050"/>
            <a:ext cx="2055256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4. Structured Output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367837" y="4048125"/>
            <a:ext cx="1957387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LLM (Llama 3.1) generates a final, structured response with recommendations and plan.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16868" y="23717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93406" y="23717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84243" y="23717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75081" y="237172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r>
              <a:rPr lang="en-US" sz="3300" b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30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ReAct Agent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2286000" y="2112168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Core LLM: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Llama 3.1 (8B) running locally via Ollama. Chosen for its strong reasoning and open-source availability.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2286000" y="3020615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Agent Framework: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LangChain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&amp; LangGraph. Used to create a robust, stateful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ReAct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(Reason-Act) agent.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2286000" y="3929062"/>
            <a:ext cx="809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Tools: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Standard Python functions (`get_health_tips`, `schedule_preventive_reminder`) integrated as agent tools.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2286000" y="4837509"/>
            <a:ext cx="80962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Evaluation Judge: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Google Gemini 2.5 Flash. Used as an impartial LLM to score the quality of different prompt iterations.</a:t>
            </a:r>
            <a:endParaRPr dirty="0"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304456"/>
            <a:ext cx="333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143252"/>
            <a:ext cx="333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121349"/>
            <a:ext cx="333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5029797"/>
            <a:ext cx="3333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Frameworks &amp; Models Used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63" y="2321862"/>
            <a:ext cx="5229225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6975" y="2321850"/>
            <a:ext cx="5511026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62025" y="2790012"/>
            <a:ext cx="467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get_health_tips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62038" y="3429012"/>
            <a:ext cx="44481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 function that returns evidence-aligned lifestyle advice for a specific condition (e.g., "diabetes", "stress"). This provides the core health information for the agent.</a:t>
            </a:r>
            <a:endParaRPr sz="165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6667500" y="2790000"/>
            <a:ext cx="505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schedule_preventive_reminder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549825" y="3429000"/>
            <a:ext cx="49653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0" u="none" strike="noStrike" cap="non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A function that (mock) schedules a reminder. It requires a strict ISO 8601 datetime and a message, forcing the LLM to parse user intent and arguments correctly.</a:t>
            </a:r>
            <a:endParaRPr sz="165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5" name="Google Shape;14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1450" y="282226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3975" y="28222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Integrated Agent Tools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0262"/>
            <a:ext cx="5334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00262"/>
            <a:ext cx="5334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962025" y="2490787"/>
            <a:ext cx="47805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Prompt 1: Baseline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962025" y="2986087"/>
            <a:ext cx="4552950" cy="190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962025" y="3195637"/>
            <a:ext cx="4553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simple system prompt defining the "Copilot" persona. It provided general advice but had no structure, reasoning, or tool-calling capabilities.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962025" y="4605337"/>
            <a:ext cx="45531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</a:t>
            </a:r>
            <a:r>
              <a:rPr lang="en-US" sz="16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Often verbose and unable to handle complex, multi-part requests (like scheduling).</a:t>
            </a:r>
            <a:endParaRPr sz="165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677025" y="2490787"/>
            <a:ext cx="47805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Prompt 2: Improved Reasoning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6677025" y="2986087"/>
            <a:ext cx="4552950" cy="190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677025" y="3195637"/>
            <a:ext cx="4553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Introduced multi-step reasoning (ReAct-style) and safety guardrails. Mandated a simple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Final Output</a:t>
            </a:r>
            <a:r>
              <a:rPr lang="en-US" sz="16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heading for consistency.</a:t>
            </a:r>
            <a:endParaRPr sz="165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6677025" y="4605337"/>
            <a:ext cx="45531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</a:t>
            </a:r>
            <a:r>
              <a:rPr lang="en-US" sz="16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Better at planning, but the output was still just unstructured text and not machine-readable.</a:t>
            </a:r>
            <a:endParaRPr sz="165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Prompt Design Strategy (Iterations 1-2)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533400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57387"/>
            <a:ext cx="5334000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962025" y="2347912"/>
            <a:ext cx="47805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Prompt 3: Structured ReAct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962025" y="2843212"/>
            <a:ext cx="4552950" cy="190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962025" y="3052762"/>
            <a:ext cx="45531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Defined strict JSON-like schemas for tools (`get_health_tips`). Mandated a *structured* `Final Output` block (recommendation, plan, tools_used).</a:t>
            </a:r>
            <a:endParaRPr sz="165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962025" y="4589512"/>
            <a:ext cx="4553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</a:t>
            </a:r>
            <a:r>
              <a:rPr lang="en-US" sz="16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First version to reliably use tools and return parsable output, but sometimes failed on complex inputs.</a:t>
            </a:r>
            <a:endParaRPr sz="165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6677025" y="2347912"/>
            <a:ext cx="478059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Prompt 4: Production-Ready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6677025" y="2843212"/>
            <a:ext cx="4552950" cy="190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6677025" y="3052762"/>
            <a:ext cx="4553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final prompt. Added explicit instructional examples (few-shot), argument validation rules, and enforcement of exact function signatures </a:t>
            </a:r>
            <a:endParaRPr sz="165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6676950" y="4354312"/>
            <a:ext cx="4553100" cy="9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</a:t>
            </a:r>
            <a:r>
              <a:rPr lang="en-US" sz="165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>
                <a:solidFill>
                  <a:srgbClr val="334155"/>
                </a:solidFill>
                <a:highlight>
                  <a:srgbClr val="F8FAFC"/>
                </a:highlight>
                <a:latin typeface="Lato"/>
                <a:ea typeface="Lato"/>
                <a:cs typeface="Lato"/>
                <a:sym typeface="Lato"/>
              </a:rPr>
              <a:t>Achieved maximum reliability and robustness. Output is a single, </a:t>
            </a:r>
            <a:r>
              <a:rPr lang="en-US" sz="1500" b="1">
                <a:solidFill>
                  <a:srgbClr val="334155"/>
                </a:solidFill>
                <a:highlight>
                  <a:srgbClr val="F8FAFC"/>
                </a:highlight>
                <a:latin typeface="Lato"/>
                <a:ea typeface="Lato"/>
                <a:cs typeface="Lato"/>
                <a:sym typeface="Lato"/>
              </a:rPr>
              <a:t>parseable structure</a:t>
            </a:r>
            <a:r>
              <a:rPr lang="en-US" sz="1500">
                <a:solidFill>
                  <a:srgbClr val="334155"/>
                </a:solidFill>
                <a:highlight>
                  <a:srgbClr val="F8FAFC"/>
                </a:highlight>
                <a:latin typeface="Lato"/>
                <a:ea typeface="Lato"/>
                <a:cs typeface="Lato"/>
                <a:sym typeface="Lato"/>
              </a:rPr>
              <a:t> for seamless </a:t>
            </a:r>
            <a:r>
              <a:rPr lang="en-US" sz="1500" b="1">
                <a:solidFill>
                  <a:srgbClr val="334155"/>
                </a:solidFill>
                <a:highlight>
                  <a:srgbClr val="F8FAFC"/>
                </a:highlight>
                <a:latin typeface="Lato"/>
                <a:ea typeface="Lato"/>
                <a:cs typeface="Lato"/>
                <a:sym typeface="Lato"/>
              </a:rPr>
              <a:t>downstream application integration</a:t>
            </a:r>
            <a:r>
              <a:rPr lang="en-US" sz="1500">
                <a:solidFill>
                  <a:srgbClr val="334155"/>
                </a:solidFill>
                <a:highlight>
                  <a:srgbClr val="F8FAFC"/>
                </a:highlight>
                <a:latin typeface="Lato"/>
                <a:ea typeface="Lato"/>
                <a:cs typeface="Lato"/>
                <a:sym typeface="Lato"/>
              </a:rPr>
              <a:t>.</a:t>
            </a:r>
            <a:endParaRPr sz="165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Prompt Design Strategy (Iterations 3-4)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1123950" y="4643437"/>
            <a:ext cx="99441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Key Insight: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"Production-Ready" prompt had the highest Overall Score (3.0).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Trade-off: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It scored low on `prompt_adherence` (1.6) because the prompt was so complex, but its `query_relevance` (4.4) was highest, proving it was best at solving the user's actual problem.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Evaluation Summary &amp; Trade-offs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2286000" y="2557349"/>
            <a:ext cx="80964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Challenge: </a:t>
            </a:r>
            <a:r>
              <a:rPr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"Prompt Adherence" (avg. 1.6/5.0) was the weakest metric. Llama 3.1 struggled to *perfectly* match the strict output format.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2286000" y="3761482"/>
            <a:ext cx="80964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Analysis: </a:t>
            </a:r>
            <a:r>
              <a:rPr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The low adherence score is likely due to a model mismatch: a strict `Gemini 2.5` (Judge) evaluating a smaller open-source model (`Llama 3.1`).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2286000" y="5005089"/>
            <a:ext cx="80964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Conclusion: </a:t>
            </a:r>
            <a:r>
              <a:rPr lang="en-US" sz="15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Iterative prompt engineering is critical for agent reliability. Future work should align the judge model with the generator model for a more "apples-to-apples" evaluation.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6" name="Google Shape;196;p21"/>
          <p:cNvGrpSpPr/>
          <p:nvPr/>
        </p:nvGrpSpPr>
        <p:grpSpPr>
          <a:xfrm>
            <a:off x="1809750" y="1609427"/>
            <a:ext cx="8572650" cy="637200"/>
            <a:chOff x="1809750" y="1609427"/>
            <a:chExt cx="8572650" cy="637200"/>
          </a:xfrm>
        </p:grpSpPr>
        <p:sp>
          <p:nvSpPr>
            <p:cNvPr id="197" name="Google Shape;197;p21"/>
            <p:cNvSpPr txBox="1"/>
            <p:nvPr/>
          </p:nvSpPr>
          <p:spPr>
            <a:xfrm>
              <a:off x="2286000" y="1609427"/>
              <a:ext cx="8096400" cy="63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Success:  </a:t>
              </a:r>
              <a:r>
                <a:rPr lang="en-US" sz="1500">
                  <a:solidFill>
                    <a:srgbClr val="333333"/>
                  </a:solidFill>
                  <a:latin typeface="Lato"/>
                  <a:ea typeface="Lato"/>
                  <a:cs typeface="Lato"/>
                  <a:sym typeface="Lato"/>
                </a:rPr>
                <a:t>The "Production Ready" prompt significantly improved query relevance (4.4/5.0) and achieved the highest overall score (3.0/5.0).</a:t>
              </a:r>
              <a:endParaRPr sz="1500">
                <a:latin typeface="Lato"/>
                <a:ea typeface="Lato"/>
                <a:cs typeface="Lato"/>
                <a:sym typeface="Lato"/>
              </a:endParaRPr>
            </a:p>
          </p:txBody>
        </p:sp>
        <p:pic>
          <p:nvPicPr>
            <p:cNvPr id="198" name="Google Shape;198;p21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09750" y="1763365"/>
              <a:ext cx="333375" cy="285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9" name="Google Shape;19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733074"/>
            <a:ext cx="333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892907"/>
            <a:ext cx="3333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5180814"/>
            <a:ext cx="3333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Key Findings &amp; Conclusion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295275" y="2690375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754</Words>
  <Application>Microsoft Office PowerPoint</Application>
  <PresentationFormat>Widescreen</PresentationFormat>
  <Paragraphs>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Merriweather</vt:lpstr>
      <vt:lpstr>Arial</vt:lpstr>
      <vt:lpstr>Poppins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MIHIR DICHWALKAR</cp:lastModifiedBy>
  <cp:revision>4</cp:revision>
  <dcterms:modified xsi:type="dcterms:W3CDTF">2025-11-16T10:51:07Z</dcterms:modified>
</cp:coreProperties>
</file>